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7772400" cy="10058400"/>
  <p:notesSz cx="6858000" cy="9144000"/>
  <p:embeddedFontLst>
    <p:embeddedFont>
      <p:font typeface="Calibri (MS)" charset="1" panose="020F0502020204030204"/>
      <p:regular r:id="rId24"/>
    </p:embeddedFont>
    <p:embeddedFont>
      <p:font typeface="Arial Bold" charset="1" panose="020B0704020202020204"/>
      <p:regular r:id="rId25"/>
    </p:embeddedFont>
    <p:embeddedFont>
      <p:font typeface="Arial" charset="1" panose="020B0604020202020204"/>
      <p:regular r:id="rId26"/>
    </p:embeddedFont>
    <p:embeddedFont>
      <p:font typeface="Arial Italics" charset="1" panose="020B0604020202090204"/>
      <p:regular r:id="rId27"/>
    </p:embeddedFont>
    <p:embeddedFont>
      <p:font typeface="Cambria" charset="1" panose="02040503050406030204"/>
      <p:regular r:id="rId28"/>
    </p:embeddedFont>
    <p:embeddedFont>
      <p:font typeface="Calibri (MS) Bold" charset="1" panose="020F0702030404030204"/>
      <p:regular r:id="rId29"/>
    </p:embeddedFont>
    <p:embeddedFont>
      <p:font typeface="Segoe UI" charset="1" panose="020B050204020402020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94636" y="5991225"/>
            <a:ext cx="35128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15942" y="6178734"/>
            <a:ext cx="1605905" cy="7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b="true" sz="1400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BOOMIKAA </a:t>
            </a:r>
            <a:r>
              <a:rPr lang="en-US" sz="1400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Academic Year: 2025–2026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01294" y="1783261"/>
            <a:ext cx="3487636" cy="25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DIGITAL MARKETING MINOR PROJECT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52091" y="2234384"/>
            <a:ext cx="3427209" cy="456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SEO AUDIT REPORT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39419" y="2681678"/>
            <a:ext cx="2952579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true">
                <a:solidFill>
                  <a:srgbClr val="282828"/>
                </a:solidFill>
                <a:latin typeface="Arial Italics"/>
                <a:ea typeface="Arial Italics"/>
                <a:cs typeface="Arial Italics"/>
                <a:sym typeface="Arial Italics"/>
              </a:rPr>
              <a:t>Billionaire</a:t>
            </a:r>
            <a:r>
              <a:rPr lang="en-US" sz="18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 </a:t>
            </a:r>
            <a:r>
              <a:rPr lang="en-US" sz="1800" i="true">
                <a:solidFill>
                  <a:srgbClr val="282828"/>
                </a:solidFill>
                <a:latin typeface="Arial Italics"/>
                <a:ea typeface="Arial Italics"/>
                <a:cs typeface="Arial Italics"/>
                <a:sym typeface="Arial Italics"/>
              </a:rPr>
              <a:t>Hair</a:t>
            </a:r>
            <a:r>
              <a:rPr lang="en-US" sz="18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 </a:t>
            </a:r>
            <a:r>
              <a:rPr lang="en-US" sz="1800" i="true">
                <a:solidFill>
                  <a:srgbClr val="282828"/>
                </a:solidFill>
                <a:latin typeface="Arial Italics"/>
                <a:ea typeface="Arial Italics"/>
                <a:cs typeface="Arial Italics"/>
                <a:sym typeface="Arial Italics"/>
              </a:rPr>
              <a:t>Salon,</a:t>
            </a:r>
            <a:r>
              <a:rPr lang="en-US" sz="18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 </a:t>
            </a:r>
            <a:r>
              <a:rPr lang="en-US" sz="1800" i="true">
                <a:solidFill>
                  <a:srgbClr val="282828"/>
                </a:solidFill>
                <a:latin typeface="Arial Italics"/>
                <a:ea typeface="Arial Italics"/>
                <a:cs typeface="Arial Italics"/>
                <a:sym typeface="Arial Italics"/>
              </a:rPr>
              <a:t>Salem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52879" y="5991225"/>
            <a:ext cx="883568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Submitted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by: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714" y="867004"/>
            <a:ext cx="6014780" cy="984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b="true" sz="1599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CERTIFICATE OF COMPLETION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41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Thisisto certify that the project report entitled"SEO Audit - Billionaire Hair Salon, Salem" submitted by BOOMIKAA in partial fulfillment of the requirements for the Digital Marketing Minor Project is a bonafide record of work carried out by her under guidance.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01667" y="2860824"/>
            <a:ext cx="1139561" cy="19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_____________________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714" y="867004"/>
            <a:ext cx="5888069" cy="984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b="true" sz="1599" spc="1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DECLARATION</a:t>
            </a:r>
            <a:r>
              <a:rPr lang="en-US" sz="1599" spc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41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Iherebydeclare that the project entitled "SEO Audit - Billionaire Hair Salon, Salem" submitted for the Digital Marketing Minor Project is an original work done by me during the academic year 2025–2026 under the supervision of faculty guide.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714" y="2311079"/>
            <a:ext cx="1299172" cy="40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3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Date: _____________ Place: Salem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88562" y="3340503"/>
            <a:ext cx="734492" cy="19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BOOMIKAA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714" y="867004"/>
            <a:ext cx="2266883" cy="28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TABLE OF CONTENTS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714" y="1218629"/>
            <a:ext cx="498872" cy="4445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44"/>
              </a:lnSpc>
            </a:pPr>
            <a:r>
              <a:rPr lang="en-US" sz="1100" spc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Page 1 Page 2 Page 3 Page 4 Page 5 Page 6 Page 7 Page 8 Page 9 Page 10 Page 11 Page 12 Page 13 Page 14 Page 15 Page 16 Page 17 Page 18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29438" y="1190635"/>
            <a:ext cx="2999108" cy="447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CoverPage </a:t>
            </a:r>
          </a:p>
          <a:p>
            <a:pPr algn="l">
              <a:lnSpc>
                <a:spcPts val="1944"/>
              </a:lnSpc>
            </a:pP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Certificate </a:t>
            </a:r>
          </a:p>
          <a:p>
            <a:pPr algn="l">
              <a:lnSpc>
                <a:spcPts val="1944"/>
              </a:lnSpc>
            </a:pP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Declaration </a:t>
            </a:r>
          </a:p>
          <a:p>
            <a:pPr algn="l">
              <a:lnSpc>
                <a:spcPts val="1944"/>
              </a:lnSpc>
            </a:pP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Table of Contents </a:t>
            </a:r>
          </a:p>
          <a:p>
            <a:pPr algn="l">
              <a:lnSpc>
                <a:spcPts val="1944"/>
              </a:lnSpc>
            </a:pP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Introduction </a:t>
            </a:r>
          </a:p>
          <a:p>
            <a:pPr algn="l">
              <a:lnSpc>
                <a:spcPts val="1944"/>
              </a:lnSpc>
            </a:pP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Objectives &amp; Methodology </a:t>
            </a:r>
          </a:p>
          <a:p>
            <a:pPr algn="l">
              <a:lnSpc>
                <a:spcPts val="1944"/>
              </a:lnSpc>
            </a:pP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About the Business </a:t>
            </a:r>
          </a:p>
          <a:p>
            <a:pPr algn="l">
              <a:lnSpc>
                <a:spcPts val="1944"/>
              </a:lnSpc>
            </a:pP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Technical SEO Audit </a:t>
            </a:r>
          </a:p>
          <a:p>
            <a:pPr algn="l">
              <a:lnSpc>
                <a:spcPts val="1944"/>
              </a:lnSpc>
            </a:pP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On-Page SEO Audit </a:t>
            </a:r>
          </a:p>
          <a:p>
            <a:pPr algn="l">
              <a:lnSpc>
                <a:spcPts val="1944"/>
              </a:lnSpc>
            </a:pP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Keyword Gap Analysis </a:t>
            </a:r>
          </a:p>
          <a:p>
            <a:pPr algn="l">
              <a:lnSpc>
                <a:spcPts val="1944"/>
              </a:lnSpc>
            </a:pP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Content Audit </a:t>
            </a:r>
          </a:p>
          <a:p>
            <a:pPr algn="l">
              <a:lnSpc>
                <a:spcPts val="1944"/>
              </a:lnSpc>
            </a:pP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Page Speed Analysis [Image 5] </a:t>
            </a:r>
          </a:p>
          <a:p>
            <a:pPr algn="l">
              <a:lnSpc>
                <a:spcPts val="1944"/>
              </a:lnSpc>
            </a:pP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Keyword &amp; Backlink Profile [Image 6] </a:t>
            </a:r>
          </a:p>
          <a:p>
            <a:pPr algn="l">
              <a:lnSpc>
                <a:spcPts val="1944"/>
              </a:lnSpc>
            </a:pP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Competitor Comparison Table </a:t>
            </a:r>
          </a:p>
          <a:p>
            <a:pPr algn="l">
              <a:lnSpc>
                <a:spcPts val="1944"/>
              </a:lnSpc>
            </a:pP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Local SEO Gap Analysis </a:t>
            </a:r>
          </a:p>
          <a:p>
            <a:pPr algn="l">
              <a:lnSpc>
                <a:spcPts val="1944"/>
              </a:lnSpc>
            </a:pP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My Business (GMB) Audit [Image 7] Website Wireframe &amp; Recommendations [Image 8] Conclusion &amp; 6-Month Roadmap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714" y="867004"/>
            <a:ext cx="6037326" cy="231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4"/>
              </a:lnSpc>
            </a:pPr>
            <a:r>
              <a:rPr lang="en-US" b="true" sz="1599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PAGE 5: INTRODUCTION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831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Understanding Search Engine Optimization (SEO)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49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SearchEngineOptimization(SEO)isthe practice ofoptimizing web pages and online presence to improve visibility and organic ranking on search engine result pages (SERPs). Over 93% of online experiences begin with a search engine query.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1831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Importance of Local SEO for Businesses in Salem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49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Forlocalized retail andservicebusinessessuch as salons, Local SEO plays a crucial role. Customers actively search for terms like 'hair salon near me' or 'best salon in Salem'. A robust local online presence ensures high digital footfall, conversion rates, and brand dominance in targeted geographical regions.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714" y="867004"/>
            <a:ext cx="5925560" cy="278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4"/>
              </a:lnSpc>
            </a:pPr>
            <a:r>
              <a:rPr lang="en-US" b="true" sz="1599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PAGE 6: OBJECTIVES &amp; METHODOLOGY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831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Project Objectives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49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Auditthe existingdigital footprint and web presence of Billionaire Hair Salon. </a:t>
            </a:r>
          </a:p>
          <a:p>
            <a:pPr algn="l">
              <a:lnSpc>
                <a:spcPts val="1549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Identify critical technical, on-page, and local SEO errors hindering performance. </a:t>
            </a:r>
          </a:p>
          <a:p>
            <a:pPr algn="l">
              <a:lnSpc>
                <a:spcPts val="1549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Formulate actionable recommendations and solutions to establish search dominance.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1831"/>
              </a:lnSpc>
            </a:pPr>
            <a:r>
              <a:rPr lang="en-US" b="true" sz="1299" spc="1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Audit Methodology &amp; Tools Used</a:t>
            </a:r>
            <a:r>
              <a:rPr lang="en-US" sz="1299" spc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51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To conductacomprehensive digitalaudit, industry-standard audit tools were utilized: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1551"/>
              </a:lnSpc>
              <a:spcBef>
                <a:spcPts val="599"/>
              </a:spcBef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1. Google PageSpeed Insights: Mobile and desktop site performance diagnostics. </a:t>
            </a:r>
          </a:p>
          <a:p>
            <a:pPr algn="l">
              <a:lnSpc>
                <a:spcPts val="1551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2. Ubersuggest &amp; SEMrush: Keyword gap identification, search volume analysis, and backlink auditing. 3. Google Maps &amp; GMB Insights: Local map pack visibility and profile completeness. </a:t>
            </a:r>
          </a:p>
          <a:p>
            <a:pPr algn="l">
              <a:lnSpc>
                <a:spcPts val="1551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4. Screaming Frog (Free Tier): Technical web crawling and page element identification.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714" y="781279"/>
            <a:ext cx="5833091" cy="282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9"/>
              </a:lnSpc>
            </a:pPr>
            <a:r>
              <a:rPr lang="en-US" b="true" sz="1599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PAGE 7: ABOUT THE BUSINESS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2542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Business Overview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2151"/>
              </a:lnSpc>
            </a:pPr>
            <a:r>
              <a:rPr lang="en-US" b="true" sz="1100">
                <a:solidFill>
                  <a:srgbClr val="2828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Name: </a:t>
            </a: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BillionaireHair Salon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151"/>
              </a:lnSpc>
            </a:pPr>
            <a:r>
              <a:rPr lang="en-US" b="true" sz="1100">
                <a:solidFill>
                  <a:srgbClr val="2828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Location: </a:t>
            </a: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Gugai, Salem, Tamil Nadu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151"/>
              </a:lnSpc>
            </a:pPr>
            <a:r>
              <a:rPr lang="en-US" b="true" sz="1100">
                <a:solidFill>
                  <a:srgbClr val="2828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Services: </a:t>
            </a: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Haircut, Hair Colour, Keratin Treatments, Styling, and Beauty Services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151"/>
              </a:lnSpc>
            </a:pPr>
            <a:r>
              <a:rPr lang="en-US" b="true" sz="1100">
                <a:solidFill>
                  <a:srgbClr val="2828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 Audience: </a:t>
            </a: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Women aged 18–35 looking for premium hair and aesthetic services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542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Current Digital Footprint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51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Currently, BillionaireHairSalonlacks a dedicated, self-hosted functional website. The business relies solely on a basic third-party Justdial business listing, severely limiting organic discoverability, brand trust, and digital conversion potential.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714" y="867004"/>
            <a:ext cx="5946553" cy="196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b="true" sz="1599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PAGE 8: TECHNICAL SEO AUDIT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827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Technical Audit Findings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44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Thetechnicalaudit revealedfundamental infrastructure deficiencies that prevent search engines from crawling, indexing, and ranking the business effectively: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1544"/>
              </a:lnSpc>
              <a:spcBef>
                <a:spcPts val="605"/>
              </a:spcBef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Missing HTTPS Security: The current Justdial link lacks custom secure protocol implementation. </a:t>
            </a:r>
          </a:p>
          <a:p>
            <a:pPr algn="l">
              <a:lnSpc>
                <a:spcPts val="1544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Absence of XML Sitemap: No http://sitemap.xml found to guide search engine crawlers. </a:t>
            </a:r>
          </a:p>
          <a:p>
            <a:pPr algn="l">
              <a:lnSpc>
                <a:spcPts val="1544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Missing Robots.txt File: Absence of http://robots.txt leads to unguided web crawling. </a:t>
            </a:r>
          </a:p>
          <a:p>
            <a:pPr algn="l">
              <a:lnSpc>
                <a:spcPts val="1544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Unoptimized URL Structure: URLs are not SEO-friendly and lack target local keywords.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714" y="867004"/>
            <a:ext cx="5828405" cy="189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b="true" sz="1599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PAGE 9: ON-PAGE SEO AUDIT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827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On-Page Critical Findings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46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Title Tag: Generic 'HairSalon' tagwithout regional keyword attachment (e.g., missing 'Salem'). </a:t>
            </a:r>
          </a:p>
          <a:p>
            <a:pPr algn="l">
              <a:lnSpc>
                <a:spcPts val="1546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Meta Description: Completely missing metadata, reducing search engine click-through rates (CTR). • Heading Hierarchy: Complete absence of structured H1 and H2 heading tags. </a:t>
            </a:r>
          </a:p>
          <a:p>
            <a:pPr algn="l">
              <a:lnSpc>
                <a:spcPts val="1546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Image Alt Text: Images lack alternative text attributes for search indexing and accessibility. </a:t>
            </a:r>
          </a:p>
          <a:p>
            <a:pPr algn="l">
              <a:lnSpc>
                <a:spcPts val="1546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Thin Content: Page contains roughly 50 words total, far below minimum contextual indexing standards.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714" y="867004"/>
            <a:ext cx="5891536" cy="258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b="true" sz="1599" spc="1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PAGE 10: KEYWORD GAP ANALYSIS</a:t>
            </a:r>
            <a:r>
              <a:rPr lang="en-US" sz="1599" spc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827"/>
              </a:lnSpc>
            </a:pPr>
            <a:r>
              <a:rPr lang="en-US" b="true" sz="1299" spc="1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Keyword Misses &amp; Search Volumes</a:t>
            </a:r>
            <a:r>
              <a:rPr lang="en-US" sz="1299" spc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42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BillionaireHairSaloncurrentlyranksforzerotarget keywords in the Salem regional market. Major uncaptured high-intent keyword opportunities include: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1542"/>
              </a:lnSpc>
              <a:spcBef>
                <a:spcPts val="607"/>
              </a:spcBef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1. 'best hair salon in Salem' — Monthly Search Volume: 1,300 (1.3K) </a:t>
            </a:r>
          </a:p>
          <a:p>
            <a:pPr algn="l">
              <a:lnSpc>
                <a:spcPts val="1542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2. 'bridal makeup Salem' — Monthly Search Volume: 880 </a:t>
            </a:r>
          </a:p>
          <a:p>
            <a:pPr algn="l">
              <a:lnSpc>
                <a:spcPts val="1542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3. 'keratin treatment Salem' — Monthly Search Volume: 720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1821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Competitor Search Positioning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41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Directcompetitor 'Naturals Salem'currentlyoccupies top positions (Positions 1–3) across all targeted high-volume local keywords, capturing the vast majority of search traffic.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714" y="867004"/>
            <a:ext cx="5896413" cy="169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b="true" sz="1599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PAGE 11: CONTENT AUDIT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822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Content Vulnerabilities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42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Absence ofEducational Content: No official blog section to target informational search queries. </a:t>
            </a:r>
          </a:p>
          <a:p>
            <a:pPr algn="l">
              <a:lnSpc>
                <a:spcPts val="1542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Missing Service Pages: Lacks detailed individual landing pages for specialized hair/beauty services. </a:t>
            </a:r>
          </a:p>
          <a:p>
            <a:pPr algn="l">
              <a:lnSpc>
                <a:spcPts val="1542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No Visual Proof: Absence of before-and-after transformations gallery. </a:t>
            </a:r>
          </a:p>
          <a:p>
            <a:pPr algn="l">
              <a:lnSpc>
                <a:spcPts val="1542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Lack of Customer Guidance: No Frequently Asked Questions (FAQs) section to capture voice search. • Duplicate Content: Relying on duplicate description text scraped directly from Justdial directories.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3358" y="3175021"/>
            <a:ext cx="5560798" cy="3708357"/>
          </a:xfrm>
          <a:custGeom>
            <a:avLst/>
            <a:gdLst/>
            <a:ahLst/>
            <a:cxnLst/>
            <a:rect r="r" b="b" t="t" l="l"/>
            <a:pathLst>
              <a:path h="3708357" w="5560798">
                <a:moveTo>
                  <a:pt x="0" y="0"/>
                </a:moveTo>
                <a:lnTo>
                  <a:pt x="5560798" y="0"/>
                </a:lnTo>
                <a:lnTo>
                  <a:pt x="5560798" y="3708358"/>
                </a:lnTo>
                <a:lnTo>
                  <a:pt x="0" y="3708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714" y="867004"/>
            <a:ext cx="6018086" cy="211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</a:pPr>
            <a:r>
              <a:rPr lang="en-US" b="true" sz="1599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PAGE 12: PAGE SPEED ANALYSIS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823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Performance Diagnostics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43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Mobile PerformanceScore:42 / 100(STATUS: FAIL) </a:t>
            </a:r>
          </a:p>
          <a:p>
            <a:pPr algn="l">
              <a:lnSpc>
                <a:spcPts val="1543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Largest Contentful Paint (LCP): 4.5 seconds (Threshold: &lt; 2.5s)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1823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Root Causes &amp; Remediation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43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Theslow page load is primarilydrivenby uncompressed heavy images and un-optimized script loading. Recommended fixes include compressing images to WebP formats, implementing browser caching, and deferring non-essential scripts.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4177" y="3789500"/>
            <a:ext cx="5560798" cy="3708357"/>
          </a:xfrm>
          <a:custGeom>
            <a:avLst/>
            <a:gdLst/>
            <a:ahLst/>
            <a:cxnLst/>
            <a:rect r="r" b="b" t="t" l="l"/>
            <a:pathLst>
              <a:path h="3708357" w="5560798">
                <a:moveTo>
                  <a:pt x="0" y="0"/>
                </a:moveTo>
                <a:lnTo>
                  <a:pt x="5560798" y="0"/>
                </a:lnTo>
                <a:lnTo>
                  <a:pt x="5560798" y="3708357"/>
                </a:lnTo>
                <a:lnTo>
                  <a:pt x="0" y="3708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714" y="867004"/>
            <a:ext cx="5939723" cy="177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b="true" sz="1599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PAGE 13: KEYWORD &amp; BACKLINK PROFILE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827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Authority &amp; Link Metrics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37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Organic Ranking Keywords: 0 </a:t>
            </a:r>
          </a:p>
          <a:p>
            <a:pPr algn="l">
              <a:lnSpc>
                <a:spcPts val="1537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Total Backlinks: 2 (Low Quality / Directory Listings) </a:t>
            </a:r>
          </a:p>
          <a:p>
            <a:pPr algn="l">
              <a:lnSpc>
                <a:spcPts val="1537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Domain Authority (DA): 8 / 100 (Very Low)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1537"/>
              </a:lnSpc>
              <a:spcBef>
                <a:spcPts val="612"/>
              </a:spcBef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The search authority profile is critically weak, making it virtually impossible to rank against established market leaders without intentional link building and authority development.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1221" y="1540507"/>
            <a:ext cx="6073207" cy="2172338"/>
          </a:xfrm>
          <a:custGeom>
            <a:avLst/>
            <a:gdLst/>
            <a:ahLst/>
            <a:cxnLst/>
            <a:rect r="r" b="b" t="t" l="l"/>
            <a:pathLst>
              <a:path h="2172338" w="6073207">
                <a:moveTo>
                  <a:pt x="0" y="0"/>
                </a:moveTo>
                <a:lnTo>
                  <a:pt x="6073206" y="0"/>
                </a:lnTo>
                <a:lnTo>
                  <a:pt x="6073206" y="2172338"/>
                </a:lnTo>
                <a:lnTo>
                  <a:pt x="0" y="2172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714" y="867004"/>
            <a:ext cx="4651324" cy="666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PAGE 14: COMPETITOR COMPARISON TABLE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Benchmarking Against Regional Leaders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88082" y="1586455"/>
            <a:ext cx="956005" cy="16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Feature / Metric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49217" y="1586455"/>
            <a:ext cx="1011317" cy="16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Billionaire Salon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65651" y="1568901"/>
            <a:ext cx="1181538" cy="550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b="true" sz="9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Naturals Salem</a:t>
            </a:r>
            <a:r>
              <a:rPr lang="en-US" sz="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Yes (Salem Keywords)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52189" y="1568901"/>
            <a:ext cx="1181538" cy="550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b="true" sz="9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Green Trends</a:t>
            </a:r>
            <a:r>
              <a:rPr lang="en-US" sz="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Yes (Salem Keywords)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914" y="1903047"/>
            <a:ext cx="501253" cy="22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spc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SEO Title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914" y="2770203"/>
            <a:ext cx="514207" cy="22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Backlinks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914" y="2335225"/>
            <a:ext cx="689086" cy="22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GMB Photos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914" y="3202000"/>
            <a:ext cx="825103" cy="22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Reviews Rating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19098" y="2372744"/>
            <a:ext cx="458829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 Photos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87342" y="3239519"/>
            <a:ext cx="526447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 Reviews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58767" y="2807713"/>
            <a:ext cx="575158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 Backlinks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84145" y="1940557"/>
            <a:ext cx="935669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(Unoptimized)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91054" y="3255388"/>
            <a:ext cx="163087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07205" y="2372744"/>
            <a:ext cx="653139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120+ Photos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81802" y="2807713"/>
            <a:ext cx="704698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450 Backlinks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54830" y="3217878"/>
            <a:ext cx="863898" cy="22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spc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(800+ Reviews)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77459" y="3255388"/>
            <a:ext cx="163087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28662" y="2372744"/>
            <a:ext cx="588369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90+ Photos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68340" y="2807713"/>
            <a:ext cx="704698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300 Backlinks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41368" y="3217878"/>
            <a:ext cx="863898" cy="22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spc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(500+ Reviews)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50055" y="3243158"/>
            <a:ext cx="107909" cy="17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rPr>
              <a:t>★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36593" y="3243158"/>
            <a:ext cx="107909" cy="17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rPr>
              <a:t>★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714" y="867004"/>
            <a:ext cx="5169875" cy="150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54"/>
              </a:lnSpc>
            </a:pPr>
            <a:r>
              <a:rPr lang="en-US" b="true" sz="1599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PAGE 15: LOCAL SEO GAP ANALYSIS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just">
              <a:lnSpc>
                <a:spcPts val="1831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Google Business Profile Gaps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just">
              <a:lnSpc>
                <a:spcPts val="1549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Inactive Updates: No GoogleMyBusiness (GMB) posts or promotional updates. </a:t>
            </a:r>
          </a:p>
          <a:p>
            <a:pPr algn="just">
              <a:lnSpc>
                <a:spcPts val="1549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Missing Q&amp;A: Absence of community Q&amp;A elements to clarify service questions. </a:t>
            </a:r>
          </a:p>
          <a:p>
            <a:pPr algn="just">
              <a:lnSpc>
                <a:spcPts val="1549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No Appointment Link: Missing direct link integration for booking customer slots. </a:t>
            </a:r>
          </a:p>
          <a:p>
            <a:pPr algn="just">
              <a:lnSpc>
                <a:spcPts val="1549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Map Pack Absence: Lacks inclusion in Google Local Top 3 Map Pack for Salem searches.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6729" y="3175021"/>
            <a:ext cx="5560798" cy="3708357"/>
          </a:xfrm>
          <a:custGeom>
            <a:avLst/>
            <a:gdLst/>
            <a:ahLst/>
            <a:cxnLst/>
            <a:rect r="r" b="b" t="t" l="l"/>
            <a:pathLst>
              <a:path h="3708357" w="5560798">
                <a:moveTo>
                  <a:pt x="0" y="0"/>
                </a:moveTo>
                <a:lnTo>
                  <a:pt x="5560797" y="0"/>
                </a:lnTo>
                <a:lnTo>
                  <a:pt x="5560797" y="3708358"/>
                </a:lnTo>
                <a:lnTo>
                  <a:pt x="0" y="3708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714" y="867004"/>
            <a:ext cx="5924826" cy="184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b="true" sz="1599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PAGE 16: GOOGLE MY BUSINESS (GMB) AUDIT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817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Profile Audit Status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33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BusinessProfileCompleteness: 35% ONLY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1533"/>
              </a:lnSpc>
              <a:spcBef>
                <a:spcPts val="617"/>
              </a:spcBef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Missing Elements: Operating hours, store exterior/interior photos, customer reviews, direct website connection, and detailed structured service listings.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1533"/>
              </a:lnSpc>
              <a:spcBef>
                <a:spcPts val="620"/>
              </a:spcBef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Immediate Action Required: Fill all core details, verify address, upload high-res gallery images, and set up booking options.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5668" y="3927476"/>
            <a:ext cx="3851444" cy="2568432"/>
          </a:xfrm>
          <a:custGeom>
            <a:avLst/>
            <a:gdLst/>
            <a:ahLst/>
            <a:cxnLst/>
            <a:rect r="r" b="b" t="t" l="l"/>
            <a:pathLst>
              <a:path h="2568432" w="3851444">
                <a:moveTo>
                  <a:pt x="0" y="0"/>
                </a:moveTo>
                <a:lnTo>
                  <a:pt x="3851444" y="0"/>
                </a:lnTo>
                <a:lnTo>
                  <a:pt x="3851444" y="2568431"/>
                </a:lnTo>
                <a:lnTo>
                  <a:pt x="0" y="2568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714" y="867004"/>
            <a:ext cx="6016809" cy="192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b="true" sz="1599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PAGE 17: WEBSITE WIREFRAME &amp; RECOMMENDATIONS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817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Proposed Site Information Architecture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37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Home&gt;Services(HairCare,BridalMakeup,BeautyTreatments) &gt; Gallery &gt; Offers &gt; About Us &gt; Contact Us &gt; Blog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1817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Conversion &amp; Layout Recommendations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37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 prominent sticky 'BookNow'Call-To-Action (CTA) buttons on top navigation and mobile footers. Implement direct WhatsApp chat integration for instant appointment requests.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714" y="867004"/>
            <a:ext cx="6077293" cy="2709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b="true" sz="1599">
                <a:solidFill>
                  <a:srgbClr val="0F172A"/>
                </a:solidFill>
                <a:latin typeface="Arial Bold"/>
                <a:ea typeface="Arial Bold"/>
                <a:cs typeface="Arial Bold"/>
                <a:sym typeface="Arial Bold"/>
              </a:rPr>
              <a:t>PAGE 18: CONCLUSION &amp; 6-MONTH ROADMAP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829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Strategic Execution Roadmap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47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Month 1: Complete andoptimizeGoogleMy Business (GMB) profile. </a:t>
            </a:r>
          </a:p>
          <a:p>
            <a:pPr algn="l">
              <a:lnSpc>
                <a:spcPts val="1547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Month 2: Build and deploy a modern 1-page responsive custom website. </a:t>
            </a:r>
          </a:p>
          <a:p>
            <a:pPr algn="l">
              <a:lnSpc>
                <a:spcPts val="1547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Month 3: Execute full On-Page SEO optimization and structured metadata. </a:t>
            </a:r>
          </a:p>
          <a:p>
            <a:pPr algn="l">
              <a:lnSpc>
                <a:spcPts val="1547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Month 4: Publish 4 high-value localized blog articles targeting Salem search terms. </a:t>
            </a:r>
          </a:p>
          <a:p>
            <a:pPr algn="l">
              <a:lnSpc>
                <a:spcPts val="1547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Month 5: Acquire 20+ local business directory citations and backlinks. </a:t>
            </a:r>
          </a:p>
          <a:p>
            <a:pPr algn="l">
              <a:lnSpc>
                <a:spcPts val="1547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• Month 6: Monitor keyword rankings, traffic conversions, and continuous iteration.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1829"/>
              </a:lnSpc>
            </a:pPr>
            <a:r>
              <a:rPr lang="en-US" b="true" sz="1299">
                <a:solidFill>
                  <a:srgbClr val="708090"/>
                </a:solidFill>
                <a:latin typeface="Arial Bold"/>
                <a:ea typeface="Arial Bold"/>
                <a:cs typeface="Arial Bold"/>
                <a:sym typeface="Arial Bold"/>
              </a:rPr>
              <a:t>Projected Impact</a:t>
            </a: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547"/>
              </a:lnSpc>
            </a:pPr>
            <a:r>
              <a:rPr lang="en-US" sz="1100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Executionof this6-month roadmap will transition Billionaire Hair Salon from 0 online search presence to Top 5 organic rankings for 'hair salon Salem'.</a:t>
            </a:r>
            <a:r>
              <a:rPr lang="en-US" sz="1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DAHWgEF5UEM</dc:identifier>
  <dcterms:modified xsi:type="dcterms:W3CDTF">2011-08-01T06:04:30Z</dcterms:modified>
  <cp:revision>1</cp:revision>
  <dc:title>SEO_Audit_Billionaire_Hair_Salon.pdf</dc:title>
</cp:coreProperties>
</file>